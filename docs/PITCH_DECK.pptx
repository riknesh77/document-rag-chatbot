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9adfe4d4ab4495" /><Relationship Type="http://schemas.openxmlformats.org/officeDocument/2006/relationships/extended-properties" Target="/docProps/app.xml" Id="R64054c37b54f4f8a" /><Relationship Type="http://schemas.openxmlformats.org/officeDocument/2006/relationships/officeDocument" Target="/ppt/presentation.xml" Id="R39e8a13cea8d4f1a" /></Relationships>
</file>

<file path=ppt/presentation.xml><?xml version="1.0" encoding="utf-8"?>
<p:presentation xmlns:p="http://schemas.openxmlformats.org/presentationml/2006/main">
  <p:sldMasterIdLst>
    <p:sldMasterId xmlns:r="http://schemas.openxmlformats.org/officeDocument/2006/relationships" id="2147483648" r:id="Rf155468b7b714d89"/>
  </p:sldMasterIdLst>
  <p:notesMasterIdLst>
    <p:notesMasterId xmlns:r="http://schemas.openxmlformats.org/officeDocument/2006/relationships" r:id="R3aab63d8c6e246c2"/>
  </p:notesMasterIdLst>
  <p:sldIdLst>
    <p:sldId xmlns:r="http://schemas.openxmlformats.org/officeDocument/2006/relationships" id="256" r:id="R40af87121b5542e7"/>
    <p:sldId xmlns:r="http://schemas.openxmlformats.org/officeDocument/2006/relationships" id="257" r:id="R01ee9d59276c482b"/>
    <p:sldId xmlns:r="http://schemas.openxmlformats.org/officeDocument/2006/relationships" id="258" r:id="R2a8c5449cd524083"/>
    <p:sldId xmlns:r="http://schemas.openxmlformats.org/officeDocument/2006/relationships" id="259" r:id="Rfea40efba0744448"/>
    <p:sldId xmlns:r="http://schemas.openxmlformats.org/officeDocument/2006/relationships" id="260" r:id="Ra7f444137fa040b1"/>
    <p:sldId xmlns:r="http://schemas.openxmlformats.org/officeDocument/2006/relationships" id="261" r:id="Rf775c3be4b764c4f"/>
    <p:sldId xmlns:r="http://schemas.openxmlformats.org/officeDocument/2006/relationships" id="262" r:id="Rf08d557fe7fd47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376fe7058a4c10" /><Relationship Type="http://schemas.openxmlformats.org/officeDocument/2006/relationships/slideMaster" Target="/ppt/slideMasters/slideMaster1.xml" Id="Rf155468b7b714d89" /><Relationship Type="http://schemas.openxmlformats.org/officeDocument/2006/relationships/notesMaster" Target="/ppt/notesMasters/notesMaster1.xml" Id="R3aab63d8c6e246c2" /><Relationship Type="http://schemas.openxmlformats.org/officeDocument/2006/relationships/presProps" Target="/ppt/presProps.xml" Id="Rfb03b289984744de" /><Relationship Type="http://schemas.openxmlformats.org/officeDocument/2006/relationships/tableStyles" Target="/ppt/tableStyles.xml" Id="R62298852aa7948ff" /><Relationship Type="http://schemas.openxmlformats.org/officeDocument/2006/relationships/slide" Target="/ppt/slides/slide1.xml" Id="R40af87121b5542e7" /><Relationship Type="http://schemas.openxmlformats.org/officeDocument/2006/relationships/slide" Target="/ppt/slides/slide2.xml" Id="R01ee9d59276c482b" /><Relationship Type="http://schemas.openxmlformats.org/officeDocument/2006/relationships/slide" Target="/ppt/slides/slide3.xml" Id="R2a8c5449cd524083" /><Relationship Type="http://schemas.openxmlformats.org/officeDocument/2006/relationships/slide" Target="/ppt/slides/slide4.xml" Id="Rfea40efba0744448" /><Relationship Type="http://schemas.openxmlformats.org/officeDocument/2006/relationships/slide" Target="/ppt/slides/slide5.xml" Id="Ra7f444137fa040b1" /><Relationship Type="http://schemas.openxmlformats.org/officeDocument/2006/relationships/slide" Target="/ppt/slides/slide6.xml" Id="Rf775c3be4b764c4f" /><Relationship Type="http://schemas.openxmlformats.org/officeDocument/2006/relationships/slide" Target="/ppt/slides/slide7.xml" Id="Rf08d557fe7fd47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5b8cbc0d64a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ad4b03883d4767" /><Relationship Type="http://schemas.openxmlformats.org/officeDocument/2006/relationships/notesMaster" Target="/ppt/notesMasters/notesMaster1.xml" Id="R97a7d06d4bd14d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09b919676a4a6c" /><Relationship Type="http://schemas.openxmlformats.org/officeDocument/2006/relationships/notesMaster" Target="/ppt/notesMasters/notesMaster1.xml" Id="Rfd94efbc548d40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1087597dc245a6" /><Relationship Type="http://schemas.openxmlformats.org/officeDocument/2006/relationships/notesMaster" Target="/ppt/notesMasters/notesMaster1.xml" Id="R8d4d0292ace047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5d33b148c44c36" /><Relationship Type="http://schemas.openxmlformats.org/officeDocument/2006/relationships/notesMaster" Target="/ppt/notesMasters/notesMaster1.xml" Id="Rd76d7d4d3b154b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26b24ae95c4a24" /><Relationship Type="http://schemas.openxmlformats.org/officeDocument/2006/relationships/notesMaster" Target="/ppt/notesMasters/notesMaster1.xml" Id="Rfeec9b0dab374b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7bf90a73cc4ae3" /><Relationship Type="http://schemas.openxmlformats.org/officeDocument/2006/relationships/notesMaster" Target="/ppt/notesMasters/notesMaster1.xml" Id="R699fa9480d5e4d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a5883faaea4992" /><Relationship Type="http://schemas.openxmlformats.org/officeDocument/2006/relationships/notesMaster" Target="/ppt/notesMasters/notesMaster1.xml" Id="R546bcce0cc914f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requirements are scattered across rubrics and client briefs. This is a product hypothesis based on the target workflow, not measured survey data. Introduce BriefProof and its capstone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audience: student capstone teams, independent project builders and small agencies. First pilot proposed with a few student teams. No customer acquisition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screenshot: public production homepage captured during implementation. The homepage preview is explicitly illustrative. Checklist extraction is a live model call only when requested in a saved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enter private sample workspace, save a new text brief, generate live AI requirements, inspect the quote, mark completion and refresh, then ask the pilot budget question. The sample checklist is preloaded and must not be described as fresh inference. Export the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 repository README, lib/requirements.js, lib/rag.js, lib/auth.js and Prisma schema. Exact quote matching checks presence, not completeness or every interpretation. Source answers use the existing evidence support check and original passages. User ownership is checked on each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 propositions and business model are hypotheses. Billing is not implemented. Pilot should measure time to first reviewed checklist, requirements missed according to human reviewers and repeat progress updates. No unsupported revenue, user or accuracy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private signup, checklists, PDFs, persistent completion, source questions and export. Next: email verification/recovery, brief revisions and reviewer editing. Later: team workspaces, integrations and validated billing. Recruit a few student teams and collect feedback on completeness.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e6ce20c56944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10138f564f4255" /><Relationship Type="http://schemas.openxmlformats.org/officeDocument/2006/relationships/slideLayout" Target="/ppt/slideLayouts/slideLayout1.xml" Id="R8ca0d6da95794a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a0d6da95794a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476247bd4244f4" /><Relationship Type="http://schemas.openxmlformats.org/officeDocument/2006/relationships/notesSlide" Target="/ppt/notesSlides/notesSlide1.xml" Id="Rd1a3d13cffda4d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7e363380994577" /><Relationship Type="http://schemas.openxmlformats.org/officeDocument/2006/relationships/notesSlide" Target="/ppt/notesSlides/notesSlide2.xml" Id="Ra8b983c3af8d4a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7cf0f2ae244d7f" /><Relationship Type="http://schemas.openxmlformats.org/officeDocument/2006/relationships/image" Target="/ppt/media/image.png" Id="R9eb1455bab304d28" /><Relationship Type="http://schemas.openxmlformats.org/officeDocument/2006/relationships/notesSlide" Target="/ppt/notesSlides/notesSlide3.xml" Id="Rcd80e24928044e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fd58cd122d4415" /><Relationship Type="http://schemas.openxmlformats.org/officeDocument/2006/relationships/notesSlide" Target="/ppt/notesSlides/notesSlide4.xml" Id="R687f71505ca447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02eaa36ede4516" /><Relationship Type="http://schemas.openxmlformats.org/officeDocument/2006/relationships/notesSlide" Target="/ppt/notesSlides/notesSlide5.xml" Id="R24248deb02db49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3f7a198fd747a8" /><Relationship Type="http://schemas.openxmlformats.org/officeDocument/2006/relationships/notesSlide" Target="/ppt/notesSlides/notesSlide6.xml" Id="Rd415bd7f244445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34434188a94b77" /><Relationship Type="http://schemas.openxmlformats.org/officeDocument/2006/relationships/notesSlide" Target="/ppt/notesSlides/notesSlide7.xml" Id="Rde4c424fcdc748fe" /></Relationships>
</file>

<file path=ppt/slides/slide1.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6AB63D-9A7C-4065-9FA5-11D997FD18AF}"/>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A buried requirement becomes a missed deliverable</a:t>
            </a:r>
          </a:p>
        </p:txBody>
      </p:sp>
      <p:sp>
        <p:nvSpPr>
          <p:cNvPr id="2" name="">
            <a:extLst xmlns:a="http://schemas.openxmlformats.org/drawingml/2006/main">
              <a:ext uri="{FF2B5EF4-FFF2-40B4-BE49-F238E27FC236}">
                <a16:creationId xmlns:a16="http://schemas.microsoft.com/office/drawing/2014/main" id="{1EE561A9-5DF9-4F41-A159-39746BC22B44}"/>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082E1951-8C48-4E2F-92F8-E3A8417626DF}"/>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C1E04B7-8F7E-43E4-B7E4-AA889E10ADFA}"/>
              </a:ext>
            </a:extLst>
          </p:cNvPr>
          <p:cNvSpPr>
            <a:spLocks xmlns:a="http://schemas.openxmlformats.org/drawingml/2006/main" noGrp="1"/>
          </p:cNvSpPr>
          <p:nvPr/>
        </p:nvSpPr>
        <p:spPr>
          <a:xfrm xmlns:a="http://schemas.openxmlformats.org/drawingml/2006/main">
            <a:off x="666750" y="19526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DAA1EE"/>
                </a:solidFill>
                <a:latin typeface="Arial"/>
                <a:ea typeface="Arial"/>
                <a:cs typeface="Arial"/>
              </a:defRPr>
            </a:pPr>
            <a:r>
              <a:rPr sz="5250" b="1">
                <a:solidFill>
                  <a:srgbClr val="DAA1EE"/>
                </a:solidFill>
                <a:latin typeface="Arial"/>
                <a:ea typeface="Arial"/>
                <a:cs typeface="Arial"/>
              </a:rPr>
              <a:t>BriefProof</a:t>
            </a:r>
          </a:p>
        </p:txBody>
      </p:sp>
      <p:sp>
        <p:nvSpPr>
          <p:cNvPr id="5" name="">
            <a:extLst xmlns:a="http://schemas.openxmlformats.org/drawingml/2006/main">
              <a:ext uri="{FF2B5EF4-FFF2-40B4-BE49-F238E27FC236}">
                <a16:creationId xmlns:a16="http://schemas.microsoft.com/office/drawing/2014/main" id="{9C1B438B-6475-43C5-9923-3D8B7D4C9B6F}"/>
              </a:ext>
            </a:extLst>
          </p:cNvPr>
          <p:cNvSpPr>
            <a:spLocks xmlns:a="http://schemas.openxmlformats.org/drawingml/2006/main" noGrp="1"/>
          </p:cNvSpPr>
          <p:nvPr/>
        </p:nvSpPr>
        <p:spPr>
          <a:xfrm xmlns:a="http://schemas.openxmlformats.org/drawingml/2006/main">
            <a:off x="666750" y="3143250"/>
            <a:ext cx="981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5EDFC"/>
                </a:solidFill>
                <a:latin typeface="Arial"/>
                <a:ea typeface="Arial"/>
                <a:cs typeface="Arial"/>
              </a:defRPr>
            </a:pPr>
            <a:r>
              <a:rPr sz="2925" b="0">
                <a:solidFill>
                  <a:srgbClr val="F5EDFC"/>
                </a:solidFill>
                <a:latin typeface="Arial"/>
                <a:ea typeface="Arial"/>
                <a:cs typeface="Arial"/>
              </a:rPr>
              <a:t>Deliver what the brief actually asks for</a:t>
            </a:r>
          </a:p>
        </p:txBody>
      </p:sp>
      <p:sp>
        <p:nvSpPr>
          <p:cNvPr id="6" name="">
            <a:extLst xmlns:a="http://schemas.openxmlformats.org/drawingml/2006/main">
              <a:ext uri="{FF2B5EF4-FFF2-40B4-BE49-F238E27FC236}">
                <a16:creationId xmlns:a16="http://schemas.microsoft.com/office/drawing/2014/main" id="{107C2749-4DE1-41C3-B545-304D22524662}"/>
              </a:ext>
            </a:extLst>
          </p:cNvPr>
          <p:cNvSpPr>
            <a:spLocks xmlns:a="http://schemas.openxmlformats.org/drawingml/2006/main" noGrp="1"/>
          </p:cNvSpPr>
          <p:nvPr/>
        </p:nvSpPr>
        <p:spPr>
          <a:xfrm xmlns:a="http://schemas.openxmlformats.org/drawingml/2006/main">
            <a:off x="666750" y="4333875"/>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Project scopes get read once.</a:t>
            </a:r>
          </a:p>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Delivery decisions need their evidence every day.</a:t>
            </a:r>
          </a:p>
        </p:txBody>
      </p:sp>
    </p:spTree>
    <p:extLst>
      <p:ext uri="{BB962C8B-B14F-4D97-AF65-F5344CB8AC3E}">
        <p14:creationId xmlns:p14="http://schemas.microsoft.com/office/powerpoint/2010/main" val="1596698877"/>
      </p:ext>
    </p:extLst>
  </p:cSld>
</p:sld>
</file>

<file path=ppt/slides/slide2.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EE91DD-8E20-47E2-AD45-9FF27CE7C7A4}"/>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Teams with a brief and a deadline</a:t>
            </a:r>
          </a:p>
        </p:txBody>
      </p:sp>
      <p:sp>
        <p:nvSpPr>
          <p:cNvPr id="2" name="">
            <a:extLst xmlns:a="http://schemas.openxmlformats.org/drawingml/2006/main">
              <a:ext uri="{FF2B5EF4-FFF2-40B4-BE49-F238E27FC236}">
                <a16:creationId xmlns:a16="http://schemas.microsoft.com/office/drawing/2014/main" id="{ED8E9107-918F-43DD-BCA2-291B3192994A}"/>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3363199A-6428-449B-99B2-924125D989B0}"/>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9F33905-388C-4F5D-BE0B-10F9CFF75980}"/>
              </a:ext>
            </a:extLst>
          </p:cNvPr>
          <p:cNvSpPr>
            <a:spLocks xmlns:a="http://schemas.openxmlformats.org/drawingml/2006/main" noGrp="1"/>
          </p:cNvSpPr>
          <p:nvPr/>
        </p:nvSpPr>
        <p:spPr>
          <a:xfrm xmlns:a="http://schemas.openxmlformats.org/drawingml/2006/main">
            <a:off x="666750" y="201930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Student capstone teams</a:t>
            </a:r>
          </a:p>
        </p:txBody>
      </p:sp>
      <p:sp>
        <p:nvSpPr>
          <p:cNvPr id="5" name="">
            <a:extLst xmlns:a="http://schemas.openxmlformats.org/drawingml/2006/main">
              <a:ext uri="{FF2B5EF4-FFF2-40B4-BE49-F238E27FC236}">
                <a16:creationId xmlns:a16="http://schemas.microsoft.com/office/drawing/2014/main" id="{8212450E-84A7-4D17-BC9F-9B1F665F3E51}"/>
              </a:ext>
            </a:extLst>
          </p:cNvPr>
          <p:cNvSpPr>
            <a:spLocks xmlns:a="http://schemas.openxmlformats.org/drawingml/2006/main" noGrp="1"/>
          </p:cNvSpPr>
          <p:nvPr/>
        </p:nvSpPr>
        <p:spPr>
          <a:xfrm xmlns:a="http://schemas.openxmlformats.org/drawingml/2006/main">
            <a:off x="666750" y="26860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9E3"/>
                </a:solidFill>
                <a:latin typeface="Arial"/>
                <a:ea typeface="Arial"/>
                <a:cs typeface="Arial"/>
              </a:defRPr>
            </a:pPr>
            <a:r>
              <a:rPr sz="2025" b="0">
                <a:solidFill>
                  <a:srgbClr val="D6C9E3"/>
                </a:solidFill>
                <a:latin typeface="Arial"/>
                <a:ea typeface="Arial"/>
                <a:cs typeface="Arial"/>
              </a:rPr>
              <a:t>Turn assignment rubrics into a reviewed delivery checklist.</a:t>
            </a:r>
          </a:p>
        </p:txBody>
      </p:sp>
      <p:sp>
        <p:nvSpPr>
          <p:cNvPr id="6" name="">
            <a:extLst xmlns:a="http://schemas.openxmlformats.org/drawingml/2006/main">
              <a:ext uri="{FF2B5EF4-FFF2-40B4-BE49-F238E27FC236}">
                <a16:creationId xmlns:a16="http://schemas.microsoft.com/office/drawing/2014/main" id="{C7C9DEA1-9027-42F4-8521-21E7B1C80332}"/>
              </a:ext>
            </a:extLst>
          </p:cNvPr>
          <p:cNvSpPr>
            <a:spLocks xmlns:a="http://schemas.openxmlformats.org/drawingml/2006/main" noGrp="1"/>
          </p:cNvSpPr>
          <p:nvPr/>
        </p:nvSpPr>
        <p:spPr>
          <a:xfrm xmlns:a="http://schemas.openxmlformats.org/drawingml/2006/main">
            <a:off x="666750" y="3762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Small agencies and independent builders</a:t>
            </a:r>
          </a:p>
        </p:txBody>
      </p:sp>
      <p:sp>
        <p:nvSpPr>
          <p:cNvPr id="7" name="">
            <a:extLst xmlns:a="http://schemas.openxmlformats.org/drawingml/2006/main">
              <a:ext uri="{FF2B5EF4-FFF2-40B4-BE49-F238E27FC236}">
                <a16:creationId xmlns:a16="http://schemas.microsoft.com/office/drawing/2014/main" id="{B8BE7FDE-A749-40FC-B853-668F5A5A95BA}"/>
              </a:ext>
            </a:extLst>
          </p:cNvPr>
          <p:cNvSpPr>
            <a:spLocks xmlns:a="http://schemas.openxmlformats.org/drawingml/2006/main" noGrp="1"/>
          </p:cNvSpPr>
          <p:nvPr/>
        </p:nvSpPr>
        <p:spPr>
          <a:xfrm xmlns:a="http://schemas.openxmlformats.org/drawingml/2006/main">
            <a:off x="666750" y="4429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9E3"/>
                </a:solidFill>
                <a:latin typeface="Arial"/>
                <a:ea typeface="Arial"/>
                <a:cs typeface="Arial"/>
              </a:defRPr>
            </a:pPr>
            <a:r>
              <a:rPr sz="2025" b="0">
                <a:solidFill>
                  <a:srgbClr val="D6C9E3"/>
                </a:solidFill>
                <a:latin typeface="Arial"/>
                <a:ea typeface="Arial"/>
                <a:cs typeface="Arial"/>
              </a:rPr>
              <a:t>Keep client scope commitments beside their original evidence.</a:t>
            </a:r>
          </a:p>
        </p:txBody>
      </p:sp>
    </p:spTree>
    <p:extLst>
      <p:ext uri="{BB962C8B-B14F-4D97-AF65-F5344CB8AC3E}">
        <p14:creationId xmlns:p14="http://schemas.microsoft.com/office/powerpoint/2010/main" val="1489151695"/>
      </p:ext>
    </p:extLst>
  </p:cSld>
</p:sld>
</file>

<file path=ppt/slides/slide3.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342F87-278D-42EA-BAD1-1B1D70CD3744}"/>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BriefProof: the scope, made visible</a:t>
            </a:r>
          </a:p>
        </p:txBody>
      </p:sp>
      <p:sp>
        <p:nvSpPr>
          <p:cNvPr id="2" name="">
            <a:extLst xmlns:a="http://schemas.openxmlformats.org/drawingml/2006/main">
              <a:ext uri="{FF2B5EF4-FFF2-40B4-BE49-F238E27FC236}">
                <a16:creationId xmlns:a16="http://schemas.microsoft.com/office/drawing/2014/main" id="{1FA4BB12-7367-4C28-9941-B4EC9B090B23}"/>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C2A57A8C-551F-439C-80CF-9B60ECBA9E0D}"/>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EBA097D-13DE-4006-AE7E-0D85FB481C7A}"/>
              </a:ext>
            </a:extLst>
          </p:cNvPr>
          <p:cNvSpPr>
            <a:spLocks xmlns:a="http://schemas.openxmlformats.org/drawingml/2006/main" noGrp="1"/>
          </p:cNvSpPr>
          <p:nvPr/>
        </p:nvSpPr>
        <p:spPr>
          <a:xfrm xmlns:a="http://schemas.openxmlformats.org/drawingml/2006/main">
            <a:off x="666750" y="2076450"/>
            <a:ext cx="4476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Save a brief.</a:t>
            </a:r>
          </a:p>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Review the commitments.</a:t>
            </a:r>
          </a:p>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Keep the source.</a:t>
            </a:r>
          </a:p>
        </p:txBody>
      </p:sp>
      <p:sp>
        <p:nvSpPr>
          <p:cNvPr id="5" name="">
            <a:extLst xmlns:a="http://schemas.openxmlformats.org/drawingml/2006/main">
              <a:ext uri="{FF2B5EF4-FFF2-40B4-BE49-F238E27FC236}">
                <a16:creationId xmlns:a16="http://schemas.microsoft.com/office/drawing/2014/main" id="{95DBEF61-9F8B-4F16-9ECF-AF27360A99EA}"/>
              </a:ext>
            </a:extLst>
          </p:cNvPr>
          <p:cNvSpPr>
            <a:spLocks xmlns:a="http://schemas.openxmlformats.org/drawingml/2006/main" noGrp="1"/>
          </p:cNvSpPr>
          <p:nvPr/>
        </p:nvSpPr>
        <p:spPr>
          <a:xfrm xmlns:a="http://schemas.openxmlformats.org/drawingml/2006/main">
            <a:off x="666750" y="4095750"/>
            <a:ext cx="419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9E3"/>
                </a:solidFill>
                <a:latin typeface="Arial"/>
                <a:ea typeface="Arial"/>
                <a:cs typeface="Arial"/>
              </a:defRPr>
            </a:pPr>
            <a:r>
              <a:rPr sz="2025" b="0">
                <a:solidFill>
                  <a:srgbClr val="D6C9E3"/>
                </a:solidFill>
                <a:latin typeface="Arial"/>
                <a:ea typeface="Arial"/>
                <a:cs typeface="Arial"/>
              </a:rPr>
              <a:t>Track completion and export a checklist your team can use.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eb1455bab304d28"/>
          <a:stretch xmlns:a="http://schemas.openxmlformats.org/drawingml/2006/main"/>
        </p:blipFill>
        <p:spPr>
          <a:xfrm xmlns:a="http://schemas.openxmlformats.org/drawingml/2006/main">
            <a:off x="6592251" y="1619250"/>
            <a:ext cx="3674749" cy="4286250"/>
          </a:xfrm>
          <a:prstGeom xmlns:a="http://schemas.openxmlformats.org/drawingml/2006/main" prst="rect">
            <a:avLst/>
          </a:prstGeom>
        </p:spPr>
      </p:pic>
    </p:spTree>
    <p:extLst>
      <p:ext uri="{BB962C8B-B14F-4D97-AF65-F5344CB8AC3E}">
        <p14:creationId xmlns:p14="http://schemas.microsoft.com/office/powerpoint/2010/main" val="1387307178"/>
      </p:ext>
    </p:extLst>
  </p:cSld>
</p:sld>
</file>

<file path=ppt/slides/slide4.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13D3AB-C999-41D9-82A5-CAABF4882E93}"/>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A three-minute product workflow</a:t>
            </a:r>
          </a:p>
        </p:txBody>
      </p:sp>
      <p:sp>
        <p:nvSpPr>
          <p:cNvPr id="2" name="">
            <a:extLst xmlns:a="http://schemas.openxmlformats.org/drawingml/2006/main">
              <a:ext uri="{FF2B5EF4-FFF2-40B4-BE49-F238E27FC236}">
                <a16:creationId xmlns:a16="http://schemas.microsoft.com/office/drawing/2014/main" id="{545454D0-FB27-4A8A-A90F-8CB44E1A66F4}"/>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A6DADFFE-C165-4B65-B9EE-FA1100F069AD}"/>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F6AC8B7-C11A-4C24-9B6F-010F9E2A0EA4}"/>
              </a:ext>
            </a:extLst>
          </p:cNvPr>
          <p:cNvSpPr>
            <a:spLocks xmlns:a="http://schemas.openxmlformats.org/drawingml/2006/main" noGrp="1"/>
          </p:cNvSpPr>
          <p:nvPr/>
        </p:nvSpPr>
        <p:spPr>
          <a:xfrm xmlns:a="http://schemas.openxmlformats.org/drawingml/2006/main">
            <a:off x="666750" y="1952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AA1EE"/>
                </a:solidFill>
                <a:latin typeface="Arial"/>
                <a:ea typeface="Arial"/>
                <a:cs typeface="Arial"/>
              </a:defRPr>
            </a:pPr>
            <a:r>
              <a:rPr sz="2325" b="0">
                <a:solidFill>
                  <a:srgbClr val="DAA1EE"/>
                </a:solidFill>
                <a:latin typeface="Arial"/>
                <a:ea typeface="Arial"/>
                <a:cs typeface="Arial"/>
              </a:rPr>
              <a:t>01   Enter a private workspace</a:t>
            </a:r>
          </a:p>
        </p:txBody>
      </p:sp>
      <p:sp>
        <p:nvSpPr>
          <p:cNvPr id="5" name="">
            <a:extLst xmlns:a="http://schemas.openxmlformats.org/drawingml/2006/main">
              <a:ext uri="{FF2B5EF4-FFF2-40B4-BE49-F238E27FC236}">
                <a16:creationId xmlns:a16="http://schemas.microsoft.com/office/drawing/2014/main" id="{8CE471E0-E0BB-4897-BFF5-B3BB01E5E16E}"/>
              </a:ext>
            </a:extLst>
          </p:cNvPr>
          <p:cNvSpPr>
            <a:spLocks xmlns:a="http://schemas.openxmlformats.org/drawingml/2006/main" noGrp="1"/>
          </p:cNvSpPr>
          <p:nvPr/>
        </p:nvSpPr>
        <p:spPr>
          <a:xfrm xmlns:a="http://schemas.openxmlformats.org/drawingml/2006/main">
            <a:off x="666750" y="2714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02   Save a brief and generate the checklist</a:t>
            </a:r>
          </a:p>
        </p:txBody>
      </p:sp>
      <p:sp>
        <p:nvSpPr>
          <p:cNvPr id="6" name="">
            <a:extLst xmlns:a="http://schemas.openxmlformats.org/drawingml/2006/main">
              <a:ext uri="{FF2B5EF4-FFF2-40B4-BE49-F238E27FC236}">
                <a16:creationId xmlns:a16="http://schemas.microsoft.com/office/drawing/2014/main" id="{A9ACA26E-2658-439D-BE90-92583395724F}"/>
              </a:ext>
            </a:extLst>
          </p:cNvPr>
          <p:cNvSpPr>
            <a:spLocks xmlns:a="http://schemas.openxmlformats.org/drawingml/2006/main" noGrp="1"/>
          </p:cNvSpPr>
          <p:nvPr/>
        </p:nvSpPr>
        <p:spPr>
          <a:xfrm xmlns:a="http://schemas.openxmlformats.org/drawingml/2006/main">
            <a:off x="666750" y="3476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03   Compare a requirement with its exact source</a:t>
            </a:r>
          </a:p>
        </p:txBody>
      </p:sp>
      <p:sp>
        <p:nvSpPr>
          <p:cNvPr id="7" name="">
            <a:extLst xmlns:a="http://schemas.openxmlformats.org/drawingml/2006/main">
              <a:ext uri="{FF2B5EF4-FFF2-40B4-BE49-F238E27FC236}">
                <a16:creationId xmlns:a16="http://schemas.microsoft.com/office/drawing/2014/main" id="{8EEBC72D-67B9-4AE2-B42D-CA75D0AEC711}"/>
              </a:ext>
            </a:extLst>
          </p:cNvPr>
          <p:cNvSpPr>
            <a:spLocks xmlns:a="http://schemas.openxmlformats.org/drawingml/2006/main" noGrp="1"/>
          </p:cNvSpPr>
          <p:nvPr/>
        </p:nvSpPr>
        <p:spPr>
          <a:xfrm xmlns:a="http://schemas.openxmlformats.org/drawingml/2006/main">
            <a:off x="666750" y="4238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04   Save progress, refresh and verify a detail</a:t>
            </a:r>
          </a:p>
        </p:txBody>
      </p:sp>
      <p:sp>
        <p:nvSpPr>
          <p:cNvPr id="8" name="">
            <a:extLst xmlns:a="http://schemas.openxmlformats.org/drawingml/2006/main">
              <a:ext uri="{FF2B5EF4-FFF2-40B4-BE49-F238E27FC236}">
                <a16:creationId xmlns:a16="http://schemas.microsoft.com/office/drawing/2014/main" id="{D8533860-7EAA-414E-9A7D-AE8EDAAE2E9E}"/>
              </a:ext>
            </a:extLst>
          </p:cNvPr>
          <p:cNvSpPr>
            <a:spLocks xmlns:a="http://schemas.openxmlformats.org/drawingml/2006/main" noGrp="1"/>
          </p:cNvSpPr>
          <p:nvPr/>
        </p:nvSpPr>
        <p:spPr>
          <a:xfrm xmlns:a="http://schemas.openxmlformats.org/drawingml/2006/main">
            <a:off x="666750" y="5000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C9E3"/>
                </a:solidFill>
                <a:latin typeface="Arial"/>
                <a:ea typeface="Arial"/>
                <a:cs typeface="Arial"/>
              </a:defRPr>
            </a:pPr>
            <a:r>
              <a:rPr sz="2325" b="0">
                <a:solidFill>
                  <a:srgbClr val="D6C9E3"/>
                </a:solidFill>
                <a:latin typeface="Arial"/>
                <a:ea typeface="Arial"/>
                <a:cs typeface="Arial"/>
              </a:rPr>
              <a:t>05   Export the delivery checklist</a:t>
            </a:r>
          </a:p>
        </p:txBody>
      </p:sp>
    </p:spTree>
    <p:extLst>
      <p:ext uri="{BB962C8B-B14F-4D97-AF65-F5344CB8AC3E}">
        <p14:creationId xmlns:p14="http://schemas.microsoft.com/office/powerpoint/2010/main" val="247249929"/>
      </p:ext>
    </p:extLst>
  </p:cSld>
</p:sld>
</file>

<file path=ppt/slides/slide5.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3221D8-27EC-4810-9C49-9A88BA1B9972}"/>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AI and technical architecture</a:t>
            </a:r>
          </a:p>
        </p:txBody>
      </p:sp>
      <p:sp>
        <p:nvSpPr>
          <p:cNvPr id="2" name="">
            <a:extLst xmlns:a="http://schemas.openxmlformats.org/drawingml/2006/main">
              <a:ext uri="{FF2B5EF4-FFF2-40B4-BE49-F238E27FC236}">
                <a16:creationId xmlns:a16="http://schemas.microsoft.com/office/drawing/2014/main" id="{9403C0AC-6CC4-4B2C-8F46-96B364040468}"/>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3AA7D3BC-B040-4972-B7AF-DE254CB165E3}"/>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C0CBA56A-53A5-43C3-9E76-9A06CE69DF3D}"/>
              </a:ext>
            </a:extLst>
          </p:cNvPr>
          <p:cNvSpPr>
            <a:spLocks xmlns:a="http://schemas.openxmlformats.org/drawingml/2006/main" noGrp="1"/>
          </p:cNvSpPr>
          <p:nvPr/>
        </p:nvSpPr>
        <p:spPr>
          <a:xfrm xmlns:a="http://schemas.openxmlformats.org/drawingml/2006/main">
            <a:off x="666750" y="1857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AA1EE"/>
                </a:solidFill>
                <a:latin typeface="Arial"/>
                <a:ea typeface="Arial"/>
                <a:cs typeface="Arial"/>
              </a:defRPr>
            </a:pPr>
            <a:r>
              <a:rPr sz="2550" b="1">
                <a:solidFill>
                  <a:srgbClr val="DAA1EE"/>
                </a:solidFill>
                <a:latin typeface="Arial"/>
                <a:ea typeface="Arial"/>
                <a:cs typeface="Arial"/>
              </a:rPr>
              <a:t>Next.js + React</a:t>
            </a:r>
          </a:p>
        </p:txBody>
      </p:sp>
      <p:sp>
        <p:nvSpPr>
          <p:cNvPr id="5" name="">
            <a:extLst xmlns:a="http://schemas.openxmlformats.org/drawingml/2006/main">
              <a:ext uri="{FF2B5EF4-FFF2-40B4-BE49-F238E27FC236}">
                <a16:creationId xmlns:a16="http://schemas.microsoft.com/office/drawing/2014/main" id="{20E176A8-75EA-4FFD-97BC-791DB25C3237}"/>
              </a:ext>
            </a:extLst>
          </p:cNvPr>
          <p:cNvSpPr>
            <a:spLocks xmlns:a="http://schemas.openxmlformats.org/drawingml/2006/main" noGrp="1"/>
          </p:cNvSpPr>
          <p:nvPr/>
        </p:nvSpPr>
        <p:spPr>
          <a:xfrm xmlns:a="http://schemas.openxmlformats.org/drawingml/2006/main">
            <a:off x="666750" y="2571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C9E3"/>
                </a:solidFill>
                <a:latin typeface="Arial"/>
                <a:ea typeface="Arial"/>
                <a:cs typeface="Arial"/>
              </a:defRPr>
            </a:pPr>
            <a:r>
              <a:rPr sz="2100" b="0">
                <a:solidFill>
                  <a:srgbClr val="D6C9E3"/>
                </a:solidFill>
                <a:latin typeface="Arial"/>
                <a:ea typeface="Arial"/>
                <a:cs typeface="Arial"/>
              </a:rPr>
              <a:t>Authenticated APIs → Prisma → PostgreSQL + pgvector</a:t>
            </a:r>
          </a:p>
        </p:txBody>
      </p:sp>
      <p:sp>
        <p:nvSpPr>
          <p:cNvPr id="6" name="">
            <a:extLst xmlns:a="http://schemas.openxmlformats.org/drawingml/2006/main">
              <a:ext uri="{FF2B5EF4-FFF2-40B4-BE49-F238E27FC236}">
                <a16:creationId xmlns:a16="http://schemas.microsoft.com/office/drawing/2014/main" id="{6AEC689E-C4B7-470F-BFB7-3684F5367514}"/>
              </a:ext>
            </a:extLst>
          </p:cNvPr>
          <p:cNvSpPr>
            <a:spLocks xmlns:a="http://schemas.openxmlformats.org/drawingml/2006/main" noGrp="1"/>
          </p:cNvSpPr>
          <p:nvPr/>
        </p:nvSpPr>
        <p:spPr>
          <a:xfrm xmlns:a="http://schemas.openxmlformats.org/drawingml/2006/main">
            <a:off x="666750" y="3524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C9E3"/>
                </a:solidFill>
                <a:latin typeface="Arial"/>
                <a:ea typeface="Arial"/>
                <a:cs typeface="Arial"/>
              </a:defRPr>
            </a:pPr>
            <a:r>
              <a:rPr sz="2100" b="0">
                <a:solidFill>
                  <a:srgbClr val="D6C9E3"/>
                </a:solidFill>
                <a:latin typeface="Arial"/>
                <a:ea typeface="Arial"/>
                <a:cs typeface="Arial"/>
              </a:rPr>
              <a:t>Groq extraction → exact quote validation → saved checklist</a:t>
            </a:r>
          </a:p>
        </p:txBody>
      </p:sp>
      <p:sp>
        <p:nvSpPr>
          <p:cNvPr id="7" name="">
            <a:extLst xmlns:a="http://schemas.openxmlformats.org/drawingml/2006/main">
              <a:ext uri="{FF2B5EF4-FFF2-40B4-BE49-F238E27FC236}">
                <a16:creationId xmlns:a16="http://schemas.microsoft.com/office/drawing/2014/main" id="{DF6C3C66-60EE-4F94-ACE0-BDE4C0E0924E}"/>
              </a:ext>
            </a:extLst>
          </p:cNvPr>
          <p:cNvSpPr>
            <a:spLocks xmlns:a="http://schemas.openxmlformats.org/drawingml/2006/main" noGrp="1"/>
          </p:cNvSpPr>
          <p:nvPr/>
        </p:nvSpPr>
        <p:spPr>
          <a:xfrm xmlns:a="http://schemas.openxmlformats.org/drawingml/2006/main">
            <a:off x="666750" y="4476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C9E3"/>
                </a:solidFill>
                <a:latin typeface="Arial"/>
                <a:ea typeface="Arial"/>
                <a:cs typeface="Arial"/>
              </a:defRPr>
            </a:pPr>
            <a:r>
              <a:rPr sz="2100" b="0">
                <a:solidFill>
                  <a:srgbClr val="D6C9E3"/>
                </a:solidFill>
                <a:latin typeface="Arial"/>
                <a:ea typeface="Arial"/>
                <a:cs typeface="Arial"/>
              </a:rPr>
              <a:t>MiniLM retrieval + reranking → Groq evidence verification</a:t>
            </a:r>
          </a:p>
        </p:txBody>
      </p:sp>
      <p:sp>
        <p:nvSpPr>
          <p:cNvPr id="8" name="">
            <a:extLst xmlns:a="http://schemas.openxmlformats.org/drawingml/2006/main">
              <a:ext uri="{FF2B5EF4-FFF2-40B4-BE49-F238E27FC236}">
                <a16:creationId xmlns:a16="http://schemas.microsoft.com/office/drawing/2014/main" id="{CB7A2E39-8AB4-4A54-BD5F-E0738F0C4135}"/>
              </a:ext>
            </a:extLst>
          </p:cNvPr>
          <p:cNvSpPr>
            <a:spLocks xmlns:a="http://schemas.openxmlformats.org/drawingml/2006/main" noGrp="1"/>
          </p:cNvSpPr>
          <p:nvPr/>
        </p:nvSpPr>
        <p:spPr>
          <a:xfrm xmlns:a="http://schemas.openxmlformats.org/drawingml/2006/main">
            <a:off x="666750" y="5429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98D0"/>
                </a:solidFill>
                <a:latin typeface="Arial"/>
                <a:ea typeface="Arial"/>
                <a:cs typeface="Arial"/>
              </a:defRPr>
            </a:pPr>
            <a:r>
              <a:rPr sz="1725" b="0">
                <a:solidFill>
                  <a:srgbClr val="B998D0"/>
                </a:solidFill>
                <a:latin typeface="Arial"/>
                <a:ea typeface="Arial"/>
                <a:cs typeface="Arial"/>
              </a:rPr>
              <a:t>AI labels need review. Original sources stay visible.</a:t>
            </a:r>
          </a:p>
        </p:txBody>
      </p:sp>
    </p:spTree>
    <p:extLst>
      <p:ext uri="{BB962C8B-B14F-4D97-AF65-F5344CB8AC3E}">
        <p14:creationId xmlns:p14="http://schemas.microsoft.com/office/powerpoint/2010/main" val="11404985"/>
      </p:ext>
    </p:extLst>
  </p:cSld>
</p:sld>
</file>

<file path=ppt/slides/slide6.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2DEC08-2DD0-4A6D-A62B-75A592F930A0}"/>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Value and a business hypothesis</a:t>
            </a:r>
          </a:p>
        </p:txBody>
      </p:sp>
      <p:sp>
        <p:nvSpPr>
          <p:cNvPr id="2" name="">
            <a:extLst xmlns:a="http://schemas.openxmlformats.org/drawingml/2006/main">
              <a:ext uri="{FF2B5EF4-FFF2-40B4-BE49-F238E27FC236}">
                <a16:creationId xmlns:a16="http://schemas.microsoft.com/office/drawing/2014/main" id="{8200D8B2-3730-443F-8380-9195DB79AD70}"/>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F49E7B25-2CDD-4535-B3BD-8238ECB62053}"/>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C899970-C4BD-40AD-86AF-0A3884473C3A}"/>
              </a:ext>
            </a:extLst>
          </p:cNvPr>
          <p:cNvSpPr>
            <a:spLocks xmlns:a="http://schemas.openxmlformats.org/drawingml/2006/main" noGrp="1"/>
          </p:cNvSpPr>
          <p:nvPr/>
        </p:nvSpPr>
        <p:spPr>
          <a:xfrm xmlns:a="http://schemas.openxmlformats.org/drawingml/2006/main">
            <a:off x="666750" y="19050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Less manual scope transcription</a:t>
            </a:r>
          </a:p>
        </p:txBody>
      </p:sp>
      <p:sp>
        <p:nvSpPr>
          <p:cNvPr id="5" name="">
            <a:extLst xmlns:a="http://schemas.openxmlformats.org/drawingml/2006/main">
              <a:ext uri="{FF2B5EF4-FFF2-40B4-BE49-F238E27FC236}">
                <a16:creationId xmlns:a16="http://schemas.microsoft.com/office/drawing/2014/main" id="{C4B8A06B-813C-48C5-93D9-7CDEDF3DAFFD}"/>
              </a:ext>
            </a:extLst>
          </p:cNvPr>
          <p:cNvSpPr>
            <a:spLocks xmlns:a="http://schemas.openxmlformats.org/drawingml/2006/main" noGrp="1"/>
          </p:cNvSpPr>
          <p:nvPr/>
        </p:nvSpPr>
        <p:spPr>
          <a:xfrm xmlns:a="http://schemas.openxmlformats.org/drawingml/2006/main">
            <a:off x="666750" y="27146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Evidence when a requirement is disputed</a:t>
            </a:r>
          </a:p>
        </p:txBody>
      </p:sp>
      <p:sp>
        <p:nvSpPr>
          <p:cNvPr id="6" name="">
            <a:extLst xmlns:a="http://schemas.openxmlformats.org/drawingml/2006/main">
              <a:ext uri="{FF2B5EF4-FFF2-40B4-BE49-F238E27FC236}">
                <a16:creationId xmlns:a16="http://schemas.microsoft.com/office/drawing/2014/main" id="{53F8EBA1-92DC-4178-BB7C-AEC98D27D933}"/>
              </a:ext>
            </a:extLst>
          </p:cNvPr>
          <p:cNvSpPr>
            <a:spLocks xmlns:a="http://schemas.openxmlformats.org/drawingml/2006/main" noGrp="1"/>
          </p:cNvSpPr>
          <p:nvPr/>
        </p:nvSpPr>
        <p:spPr>
          <a:xfrm xmlns:a="http://schemas.openxmlformats.org/drawingml/2006/main">
            <a:off x="666750" y="3524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AA1EE"/>
                </a:solidFill>
                <a:latin typeface="Arial"/>
                <a:ea typeface="Arial"/>
                <a:cs typeface="Arial"/>
              </a:defRPr>
            </a:pPr>
            <a:r>
              <a:rPr sz="2625" b="1">
                <a:solidFill>
                  <a:srgbClr val="DAA1EE"/>
                </a:solidFill>
                <a:latin typeface="Arial"/>
                <a:ea typeface="Arial"/>
                <a:cs typeface="Arial"/>
              </a:rPr>
              <a:t>Progress that outlasts a chat response</a:t>
            </a:r>
          </a:p>
        </p:txBody>
      </p:sp>
      <p:sp>
        <p:nvSpPr>
          <p:cNvPr id="7" name="">
            <a:extLst xmlns:a="http://schemas.openxmlformats.org/drawingml/2006/main">
              <a:ext uri="{FF2B5EF4-FFF2-40B4-BE49-F238E27FC236}">
                <a16:creationId xmlns:a16="http://schemas.microsoft.com/office/drawing/2014/main" id="{65B08D5F-2804-4242-AC9D-EC16C6EB03A4}"/>
              </a:ext>
            </a:extLst>
          </p:cNvPr>
          <p:cNvSpPr>
            <a:spLocks xmlns:a="http://schemas.openxmlformats.org/drawingml/2006/main" noGrp="1"/>
          </p:cNvSpPr>
          <p:nvPr/>
        </p:nvSpPr>
        <p:spPr>
          <a:xfrm xmlns:a="http://schemas.openxmlformats.org/drawingml/2006/main">
            <a:off x="666750" y="4714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C9E3"/>
                </a:solidFill>
                <a:latin typeface="Arial"/>
                <a:ea typeface="Arial"/>
                <a:cs typeface="Arial"/>
              </a:defRPr>
            </a:pPr>
            <a:r>
              <a:rPr sz="1950" b="0">
                <a:solidFill>
                  <a:srgbClr val="D6C9E3"/>
                </a:solidFill>
                <a:latin typeface="Arial"/>
                <a:ea typeface="Arial"/>
                <a:cs typeface="Arial"/>
              </a:rPr>
              <a:t>Pilot: time to a reviewed checklist, missed requirements and repeat use.</a:t>
            </a:r>
          </a:p>
          <a:p xmlns:a="http://schemas.openxmlformats.org/drawingml/2006/main">
            <a:pPr>
              <a:defRPr sz="1950" b="0">
                <a:solidFill>
                  <a:srgbClr val="D6C9E3"/>
                </a:solidFill>
                <a:latin typeface="Arial"/>
                <a:ea typeface="Arial"/>
                <a:cs typeface="Arial"/>
              </a:defRPr>
            </a:pPr>
            <a:r>
              <a:rPr sz="1950" b="0">
                <a:solidFill>
                  <a:srgbClr val="D6C9E3"/>
                </a:solidFill>
                <a:latin typeface="Arial"/>
                <a:ea typeface="Arial"/>
                <a:cs typeface="Arial"/>
              </a:rPr>
              <a:t>Future hypothesis: free individual use and paid team workspaces.</a:t>
            </a:r>
          </a:p>
        </p:txBody>
      </p:sp>
    </p:spTree>
    <p:extLst>
      <p:ext uri="{BB962C8B-B14F-4D97-AF65-F5344CB8AC3E}">
        <p14:creationId xmlns:p14="http://schemas.microsoft.com/office/powerpoint/2010/main" val="742004803"/>
      </p:ext>
    </p:extLst>
  </p:cSld>
</p:sld>
</file>

<file path=ppt/slides/slide7.xml><?xml version="1.0" encoding="utf-8"?>
<p:sld xmlns:p="http://schemas.openxmlformats.org/presentationml/2006/main">
  <p:cSld>
    <p:bg>
      <p:bgPr>
        <a:solidFill xmlns:a="http://schemas.openxmlformats.org/drawingml/2006/main">
          <a:srgbClr val="0C0A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8CB963-8271-46C1-A415-890D56ACDBB4}"/>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5EDFC"/>
                </a:solidFill>
                <a:latin typeface="Arial"/>
                <a:ea typeface="Arial"/>
                <a:cs typeface="Arial"/>
              </a:defRPr>
            </a:pPr>
            <a:r>
              <a:rPr sz="3375" b="1">
                <a:solidFill>
                  <a:srgbClr val="F5EDFC"/>
                </a:solidFill>
                <a:latin typeface="Arial"/>
                <a:ea typeface="Arial"/>
                <a:cs typeface="Arial"/>
              </a:rPr>
              <a:t>Roadmap and pilot invitation</a:t>
            </a:r>
          </a:p>
        </p:txBody>
      </p:sp>
      <p:sp>
        <p:nvSpPr>
          <p:cNvPr id="2" name="">
            <a:extLst xmlns:a="http://schemas.openxmlformats.org/drawingml/2006/main">
              <a:ext uri="{FF2B5EF4-FFF2-40B4-BE49-F238E27FC236}">
                <a16:creationId xmlns:a16="http://schemas.microsoft.com/office/drawing/2014/main" id="{E36B7724-ED83-4328-A7EF-C771FF48689E}"/>
              </a:ext>
            </a:extLst>
          </p:cNvPr>
          <p:cNvSpPr>
            <a:spLocks xmlns:a="http://schemas.openxmlformats.org/drawingml/2006/main" noGrp="1"/>
          </p:cNvSpPr>
          <p:nvPr/>
        </p:nvSpPr>
        <p:spPr>
          <a:xfrm xmlns:a="http://schemas.openxmlformats.org/drawingml/2006/main">
            <a:off x="666750" y="6238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BriefProof</a:t>
            </a:r>
          </a:p>
        </p:txBody>
      </p:sp>
      <p:sp>
        <p:nvSpPr>
          <p:cNvPr id="3" name="">
            <a:extLst xmlns:a="http://schemas.openxmlformats.org/drawingml/2006/main">
              <a:ext uri="{FF2B5EF4-FFF2-40B4-BE49-F238E27FC236}">
                <a16:creationId xmlns:a16="http://schemas.microsoft.com/office/drawing/2014/main" id="{7B5EB91A-85F1-4CA4-8C1E-1F60E1D5F542}"/>
              </a:ext>
            </a:extLst>
          </p:cNvPr>
          <p:cNvSpPr>
            <a:spLocks xmlns:a="http://schemas.openxmlformats.org/drawingml/2006/main" noGrp="1"/>
          </p:cNvSpPr>
          <p:nvPr/>
        </p:nvSpPr>
        <p:spPr>
          <a:xfrm xmlns:a="http://schemas.openxmlformats.org/drawingml/2006/main">
            <a:off x="11144250" y="6238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D83CA"/>
                </a:solidFill>
                <a:latin typeface="Arial"/>
                <a:ea typeface="Arial"/>
                <a:cs typeface="Arial"/>
              </a:defRPr>
            </a:pPr>
            <a:r>
              <a:rPr sz="1275" b="0">
                <a:solidFill>
                  <a:srgbClr val="AD83C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CFFFE7C-6363-4395-B1EB-29947EC42FD1}"/>
              </a:ext>
            </a:extLst>
          </p:cNvPr>
          <p:cNvSpPr>
            <a:spLocks xmlns:a="http://schemas.openxmlformats.org/drawingml/2006/main" noGrp="1"/>
          </p:cNvSpPr>
          <p:nvPr/>
        </p:nvSpPr>
        <p:spPr>
          <a:xfrm xmlns:a="http://schemas.openxmlformats.org/drawingml/2006/main">
            <a:off x="666750" y="19050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AA1EE"/>
                </a:solidFill>
                <a:latin typeface="Arial"/>
                <a:ea typeface="Arial"/>
                <a:cs typeface="Arial"/>
              </a:defRPr>
            </a:pPr>
            <a:r>
              <a:rPr sz="2400" b="1">
                <a:solidFill>
                  <a:srgbClr val="DAA1EE"/>
                </a:solidFill>
                <a:latin typeface="Arial"/>
                <a:ea typeface="Arial"/>
                <a:cs typeface="Arial"/>
              </a:rPr>
              <a:t>Now</a:t>
            </a:r>
          </a:p>
        </p:txBody>
      </p:sp>
      <p:sp>
        <p:nvSpPr>
          <p:cNvPr id="5" name="">
            <a:extLst xmlns:a="http://schemas.openxmlformats.org/drawingml/2006/main">
              <a:ext uri="{FF2B5EF4-FFF2-40B4-BE49-F238E27FC236}">
                <a16:creationId xmlns:a16="http://schemas.microsoft.com/office/drawing/2014/main" id="{630C99E2-AA34-45F7-9305-2AC1F3199CF3}"/>
              </a:ext>
            </a:extLst>
          </p:cNvPr>
          <p:cNvSpPr>
            <a:spLocks xmlns:a="http://schemas.openxmlformats.org/drawingml/2006/main" noGrp="1"/>
          </p:cNvSpPr>
          <p:nvPr/>
        </p:nvSpPr>
        <p:spPr>
          <a:xfrm xmlns:a="http://schemas.openxmlformats.org/drawingml/2006/main">
            <a:off x="2476500" y="1905000"/>
            <a:ext cx="876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6C9E3"/>
                </a:solidFill>
                <a:latin typeface="Arial"/>
                <a:ea typeface="Arial"/>
                <a:cs typeface="Arial"/>
              </a:defRPr>
            </a:pPr>
            <a:r>
              <a:rPr sz="2250" b="0">
                <a:solidFill>
                  <a:srgbClr val="D6C9E3"/>
                </a:solidFill>
                <a:latin typeface="Arial"/>
                <a:ea typeface="Arial"/>
                <a:cs typeface="Arial"/>
              </a:rPr>
              <a:t>Private briefs, evidence, progress and export</a:t>
            </a:r>
          </a:p>
        </p:txBody>
      </p:sp>
      <p:sp>
        <p:nvSpPr>
          <p:cNvPr id="6" name="">
            <a:extLst xmlns:a="http://schemas.openxmlformats.org/drawingml/2006/main">
              <a:ext uri="{FF2B5EF4-FFF2-40B4-BE49-F238E27FC236}">
                <a16:creationId xmlns:a16="http://schemas.microsoft.com/office/drawing/2014/main" id="{5635BACA-275D-4D30-9E8E-76E7E3D68E01}"/>
              </a:ext>
            </a:extLst>
          </p:cNvPr>
          <p:cNvSpPr>
            <a:spLocks xmlns:a="http://schemas.openxmlformats.org/drawingml/2006/main" noGrp="1"/>
          </p:cNvSpPr>
          <p:nvPr/>
        </p:nvSpPr>
        <p:spPr>
          <a:xfrm xmlns:a="http://schemas.openxmlformats.org/drawingml/2006/main">
            <a:off x="666750" y="30480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AA1EE"/>
                </a:solidFill>
                <a:latin typeface="Arial"/>
                <a:ea typeface="Arial"/>
                <a:cs typeface="Arial"/>
              </a:defRPr>
            </a:pPr>
            <a:r>
              <a:rPr sz="2400" b="1">
                <a:solidFill>
                  <a:srgbClr val="DAA1EE"/>
                </a:solidFill>
                <a:latin typeface="Arial"/>
                <a:ea typeface="Arial"/>
                <a:cs typeface="Arial"/>
              </a:rPr>
              <a:t>Next</a:t>
            </a:r>
          </a:p>
        </p:txBody>
      </p:sp>
      <p:sp>
        <p:nvSpPr>
          <p:cNvPr id="7" name="">
            <a:extLst xmlns:a="http://schemas.openxmlformats.org/drawingml/2006/main">
              <a:ext uri="{FF2B5EF4-FFF2-40B4-BE49-F238E27FC236}">
                <a16:creationId xmlns:a16="http://schemas.microsoft.com/office/drawing/2014/main" id="{22542CCA-1858-4F4F-961C-2DF827D9C976}"/>
              </a:ext>
            </a:extLst>
          </p:cNvPr>
          <p:cNvSpPr>
            <a:spLocks xmlns:a="http://schemas.openxmlformats.org/drawingml/2006/main" noGrp="1"/>
          </p:cNvSpPr>
          <p:nvPr/>
        </p:nvSpPr>
        <p:spPr>
          <a:xfrm xmlns:a="http://schemas.openxmlformats.org/drawingml/2006/main">
            <a:off x="2476500" y="3048000"/>
            <a:ext cx="876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6C9E3"/>
                </a:solidFill>
                <a:latin typeface="Arial"/>
                <a:ea typeface="Arial"/>
                <a:cs typeface="Arial"/>
              </a:defRPr>
            </a:pPr>
            <a:r>
              <a:rPr sz="2250" b="0">
                <a:solidFill>
                  <a:srgbClr val="D6C9E3"/>
                </a:solidFill>
                <a:latin typeface="Arial"/>
                <a:ea typeface="Arial"/>
                <a:cs typeface="Arial"/>
              </a:rPr>
              <a:t>Account recovery, scope revisions and reviewer edits</a:t>
            </a:r>
          </a:p>
        </p:txBody>
      </p:sp>
      <p:sp>
        <p:nvSpPr>
          <p:cNvPr id="8" name="">
            <a:extLst xmlns:a="http://schemas.openxmlformats.org/drawingml/2006/main">
              <a:ext uri="{FF2B5EF4-FFF2-40B4-BE49-F238E27FC236}">
                <a16:creationId xmlns:a16="http://schemas.microsoft.com/office/drawing/2014/main" id="{CD76E6D7-D4A4-408E-B77B-C4D166B60E0E}"/>
              </a:ext>
            </a:extLst>
          </p:cNvPr>
          <p:cNvSpPr>
            <a:spLocks xmlns:a="http://schemas.openxmlformats.org/drawingml/2006/main" noGrp="1"/>
          </p:cNvSpPr>
          <p:nvPr/>
        </p:nvSpPr>
        <p:spPr>
          <a:xfrm xmlns:a="http://schemas.openxmlformats.org/drawingml/2006/main">
            <a:off x="666750" y="428625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AA1EE"/>
                </a:solidFill>
                <a:latin typeface="Arial"/>
                <a:ea typeface="Arial"/>
                <a:cs typeface="Arial"/>
              </a:defRPr>
            </a:pPr>
            <a:r>
              <a:rPr sz="2400" b="1">
                <a:solidFill>
                  <a:srgbClr val="DAA1EE"/>
                </a:solidFill>
                <a:latin typeface="Arial"/>
                <a:ea typeface="Arial"/>
                <a:cs typeface="Arial"/>
              </a:rPr>
              <a:t>Pilot ask</a:t>
            </a:r>
          </a:p>
        </p:txBody>
      </p:sp>
      <p:sp>
        <p:nvSpPr>
          <p:cNvPr id="9" name="">
            <a:extLst xmlns:a="http://schemas.openxmlformats.org/drawingml/2006/main">
              <a:ext uri="{FF2B5EF4-FFF2-40B4-BE49-F238E27FC236}">
                <a16:creationId xmlns:a16="http://schemas.microsoft.com/office/drawing/2014/main" id="{5A8F52BE-30D5-4BFE-AB9C-D1ACD6C098E4}"/>
              </a:ext>
            </a:extLst>
          </p:cNvPr>
          <p:cNvSpPr>
            <a:spLocks xmlns:a="http://schemas.openxmlformats.org/drawingml/2006/main" noGrp="1"/>
          </p:cNvSpPr>
          <p:nvPr/>
        </p:nvSpPr>
        <p:spPr>
          <a:xfrm xmlns:a="http://schemas.openxmlformats.org/drawingml/2006/main">
            <a:off x="2476500" y="42862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6C9E3"/>
                </a:solidFill>
                <a:latin typeface="Arial"/>
                <a:ea typeface="Arial"/>
                <a:cs typeface="Arial"/>
              </a:defRPr>
            </a:pPr>
            <a:r>
              <a:rPr sz="2250" b="0">
                <a:solidFill>
                  <a:srgbClr val="D6C9E3"/>
                </a:solidFill>
                <a:latin typeface="Arial"/>
                <a:ea typeface="Arial"/>
                <a:cs typeface="Arial"/>
              </a:rPr>
              <a:t>Try BriefProof with a real project brief.</a:t>
            </a:r>
          </a:p>
          <a:p xmlns:a="http://schemas.openxmlformats.org/drawingml/2006/main">
            <a:pPr>
              <a:defRPr sz="2250" b="0">
                <a:solidFill>
                  <a:srgbClr val="D6C9E3"/>
                </a:solidFill>
                <a:latin typeface="Arial"/>
                <a:ea typeface="Arial"/>
                <a:cs typeface="Arial"/>
              </a:defRPr>
            </a:pPr>
            <a:r>
              <a:rPr sz="2250" b="0">
                <a:solidFill>
                  <a:srgbClr val="D6C9E3"/>
                </a:solidFill>
                <a:latin typeface="Arial"/>
                <a:ea typeface="Arial"/>
                <a:cs typeface="Arial"/>
              </a:rPr>
              <a:t>Tell us what the checklist missed.</a:t>
            </a:r>
          </a:p>
        </p:txBody>
      </p:sp>
    </p:spTree>
    <p:extLst>
      <p:ext uri="{BB962C8B-B14F-4D97-AF65-F5344CB8AC3E}">
        <p14:creationId xmlns:p14="http://schemas.microsoft.com/office/powerpoint/2010/main" val="70325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2026-10-05T15:09:39.6200000Z</dcterms:created>
  <dcterms:modified xsi:type="dcterms:W3CDTF">2026-10-05T15:09:39.6200000Z</dcterms:modified>
</coreProperties>
</file>